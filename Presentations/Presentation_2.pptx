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Inter SemiBold"/>
      <p:regular r:id="rId12"/>
      <p:bold r:id="rId13"/>
      <p:italic r:id="rId14"/>
      <p:boldItalic r:id="rId15"/>
    </p:embeddedFont>
    <p:embeddedFont>
      <p:font typeface="Inter"/>
      <p:regular r:id="rId16"/>
      <p:bold r:id="rId17"/>
      <p:italic r:id="rId18"/>
      <p:boldItalic r:id="rId19"/>
    </p:embeddedFont>
    <p:embeddedFont>
      <p:font typeface="Urbanis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regular.fntdata"/><Relationship Id="rId11" Type="http://schemas.openxmlformats.org/officeDocument/2006/relationships/slide" Target="slides/slide6.xml"/><Relationship Id="rId22" Type="http://schemas.openxmlformats.org/officeDocument/2006/relationships/font" Target="fonts/Urbanist-italic.fntdata"/><Relationship Id="rId10" Type="http://schemas.openxmlformats.org/officeDocument/2006/relationships/slide" Target="slides/slide5.xml"/><Relationship Id="rId21" Type="http://schemas.openxmlformats.org/officeDocument/2006/relationships/font" Target="fonts/Urbanist-bold.fntdata"/><Relationship Id="rId13" Type="http://schemas.openxmlformats.org/officeDocument/2006/relationships/font" Target="fonts/InterSemiBold-bold.fntdata"/><Relationship Id="rId12" Type="http://schemas.openxmlformats.org/officeDocument/2006/relationships/font" Target="fonts/InterSemiBold-regular.fntdata"/><Relationship Id="rId23" Type="http://schemas.openxmlformats.org/officeDocument/2006/relationships/font" Target="fonts/Urbanis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SemiBold-boldItalic.fntdata"/><Relationship Id="rId14" Type="http://schemas.openxmlformats.org/officeDocument/2006/relationships/font" Target="fonts/InterSemiBold-italic.fntdata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Italic.fntdata"/><Relationship Id="rId6" Type="http://schemas.openxmlformats.org/officeDocument/2006/relationships/slide" Target="slides/slide1.xml"/><Relationship Id="rId18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1f4ec522e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1f4ec522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9" Type="http://schemas.openxmlformats.org/officeDocument/2006/relationships/image" Target="../media/image25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476250" y="476250"/>
            <a:ext cx="11715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1. Project Summary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476250" y="1171575"/>
            <a:ext cx="112395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476250" y="1571625"/>
            <a:ext cx="56507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Motivation &amp; Specs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76250" y="1981200"/>
            <a:ext cx="53816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Oil spills on runways are invisible hazards causing loss of friction. Our goal is to build a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Real-time Computer Vision System (30 FPS)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 detect and localize these spills using semantic segmentation on edge hardware.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76250" y="3629025"/>
            <a:ext cx="56507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Changes from Proposal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76250" y="4038600"/>
            <a:ext cx="5381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pivoted from generic FOD (screws, trash) to exclusively </a:t>
            </a: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Oil Spills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This shifts the challenge to identifying amorphous, transparent liquid textures.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76250" y="5381625"/>
            <a:ext cx="56507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Novelty &amp; Contributions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76250" y="5791200"/>
            <a:ext cx="5381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Due to extreme data scarcity, we developed a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Generative AI Pipeline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(Stable Diffusion + ControlNet) to synthesize realistic oil spill datasets.</a:t>
            </a:r>
            <a:endParaRPr/>
          </a:p>
        </p:txBody>
      </p:sp>
      <p:pic>
        <p:nvPicPr>
          <p:cNvPr id="92" name="Google Shape;92;p13" title="oi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4125" y="1790711"/>
            <a:ext cx="5381625" cy="4000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/>
        </p:nvSpPr>
        <p:spPr>
          <a:xfrm>
            <a:off x="476250" y="476250"/>
            <a:ext cx="11715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2. Related Work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476250" y="1171575"/>
            <a:ext cx="112395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476250" y="2862262"/>
            <a:ext cx="22479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2724150" y="2862262"/>
            <a:ext cx="33718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6096000" y="2862262"/>
            <a:ext cx="22479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8343900" y="2862262"/>
            <a:ext cx="33718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476250" y="3971925"/>
            <a:ext cx="22479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2724150" y="3971925"/>
            <a:ext cx="33718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6096000" y="3971925"/>
            <a:ext cx="22479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8343900" y="3971925"/>
            <a:ext cx="33718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476250" y="4667250"/>
            <a:ext cx="22479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2724150" y="4667250"/>
            <a:ext cx="33718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6096000" y="4667250"/>
            <a:ext cx="22479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8343900" y="4667250"/>
            <a:ext cx="33718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1839050"/>
            <a:ext cx="11239500" cy="3340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571625"/>
            <a:ext cx="5381625" cy="47771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4650" y="2733675"/>
            <a:ext cx="46005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4650" y="3467100"/>
            <a:ext cx="46005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4650" y="4200525"/>
            <a:ext cx="46005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4650" y="2733675"/>
            <a:ext cx="2300287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3467100"/>
            <a:ext cx="184011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4200525"/>
            <a:ext cx="46002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476250" y="476250"/>
            <a:ext cx="11715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3. Dataset Generation &amp; EDA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476250" y="1171575"/>
            <a:ext cx="112395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476250" y="1571625"/>
            <a:ext cx="56507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Generation Pipeline Flow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724650" y="1962150"/>
            <a:ext cx="483060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Dataset Composition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6724650" y="4953000"/>
            <a:ext cx="46005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7225" y="220027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1133475" y="2124075"/>
            <a:ext cx="364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Input Image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 runway background</a:t>
            </a:r>
            <a:endParaRPr/>
          </a:p>
        </p:txBody>
      </p:sp>
      <p:pic>
        <p:nvPicPr>
          <p:cNvPr descr="image.png" id="130" name="Google Shape;13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716475" y="2671763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7225" y="3030038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1133475" y="2953838"/>
            <a:ext cx="364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Segmentation Model (SegFormer)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Propose spill area</a:t>
            </a:r>
            <a:endParaRPr/>
          </a:p>
        </p:txBody>
      </p:sp>
      <p:pic>
        <p:nvPicPr>
          <p:cNvPr descr="image.png" id="133" name="Google Shape;13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716475" y="3394575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7225" y="3715838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1133475" y="3639638"/>
            <a:ext cx="364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Masking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Create binary mask for inpainting</a:t>
            </a:r>
            <a:endParaRPr/>
          </a:p>
        </p:txBody>
      </p:sp>
      <p:pic>
        <p:nvPicPr>
          <p:cNvPr descr="image.png" id="136" name="Google Shape;13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716475" y="4219575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7225" y="4517238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 txBox="1"/>
          <p:nvPr/>
        </p:nvSpPr>
        <p:spPr>
          <a:xfrm>
            <a:off x="1133475" y="4441050"/>
            <a:ext cx="364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Inpaint (Stable Diffusion)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Synthesize oil texture in masked area</a:t>
            </a:r>
            <a:endParaRPr/>
          </a:p>
        </p:txBody>
      </p:sp>
      <p:pic>
        <p:nvPicPr>
          <p:cNvPr descr="image.png" id="139" name="Google Shape;139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7225" y="523142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1133475" y="6867525"/>
            <a:ext cx="9334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Final Dataset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6724650" y="2466975"/>
            <a:ext cx="46005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Clean Runway Images </a:t>
            </a: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1,000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6724650" y="3200400"/>
            <a:ext cx="46005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Generated Images (Synthetic) </a:t>
            </a: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800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6724650" y="3933825"/>
            <a:ext cx="46005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Real Oil Spill Images </a:t>
            </a: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200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8472500" y="4981575"/>
            <a:ext cx="110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TOTAL IMAGES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6724700" y="5486400"/>
            <a:ext cx="4600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2,000</a:t>
            </a:r>
            <a:endParaRPr/>
          </a:p>
        </p:txBody>
      </p:sp>
      <p:pic>
        <p:nvPicPr>
          <p:cNvPr descr="image.png" id="146" name="Google Shape;14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716475" y="4953000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/>
        </p:nvSpPr>
        <p:spPr>
          <a:xfrm>
            <a:off x="1133475" y="5220788"/>
            <a:ext cx="364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Final synthetic dataset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dataset we use to train the model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6" title="dcceab50-1c3d-4b6d-aa27-46291e04ce5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/>
          <p:nvPr/>
        </p:nvSpPr>
        <p:spPr>
          <a:xfrm>
            <a:off x="132625" y="180875"/>
            <a:ext cx="5931900" cy="735600"/>
          </a:xfrm>
          <a:prstGeom prst="rect">
            <a:avLst/>
          </a:prstGeom>
          <a:solidFill>
            <a:srgbClr val="20293A"/>
          </a:solidFill>
          <a:ln cap="flat" cmpd="sng" w="9525">
            <a:solidFill>
              <a:srgbClr val="202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1571625"/>
            <a:ext cx="5476875" cy="4810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571625"/>
            <a:ext cx="5476875" cy="4810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301305"/>
            <a:ext cx="48863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872805"/>
            <a:ext cx="4886325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476250" y="476250"/>
            <a:ext cx="11715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4. Preliminary Results (Epoch 14)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476250" y="1171575"/>
            <a:ext cx="112395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771525" y="1866900"/>
            <a:ext cx="513064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Metric Snapshot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771525" y="2438400"/>
            <a:ext cx="48863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Comparison against COCO Baseline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534150" y="1866900"/>
            <a:ext cx="513064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Error Analysis</a:t>
            </a:r>
            <a:endParaRPr/>
          </a:p>
        </p:txBody>
      </p:sp>
      <p:pic>
        <p:nvPicPr>
          <p:cNvPr descr="image.png" id="167" name="Google Shape;16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18859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771525" y="3015555"/>
            <a:ext cx="4886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mAP @ 0.50 </a:t>
            </a:r>
            <a:r>
              <a:rPr b="1" i="0" lang="en-US" sz="12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40%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771525" y="3587055"/>
            <a:ext cx="4886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Recall </a:t>
            </a:r>
            <a:r>
              <a:rPr b="1" i="0" lang="en-US" sz="1200" u="none" cap="none" strike="noStrike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14.8%</a:t>
            </a:r>
            <a:endParaRPr/>
          </a:p>
        </p:txBody>
      </p:sp>
      <p:pic>
        <p:nvPicPr>
          <p:cNvPr descr="image.png" id="170" name="Google Shape;17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4150" y="18859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6772275" y="2438400"/>
            <a:ext cx="4648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Low Precision (High False Positives):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Model currently predicts "oil" on most dark shadows and wet patches. Threshold refinement needed.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772275" y="3152775"/>
            <a:ext cx="4648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Low Recall (Underfitting):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Model misses &gt;85% of spills. Likely due to early training stage (Epoch 14) and difficult synthetic-to-real domain transfer.</a:t>
            </a:r>
            <a:endParaRPr/>
          </a:p>
        </p:txBody>
      </p:sp>
      <p:pic>
        <p:nvPicPr>
          <p:cNvPr descr="image.png" id="173" name="Google Shape;17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86550" y="576262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6886575" y="5743575"/>
            <a:ext cx="340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The model failed to </a:t>
            </a:r>
            <a:r>
              <a:rPr lang="en-US" sz="12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train properly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771525" y="3301305"/>
            <a:ext cx="1954410" cy="95250"/>
          </a:xfrm>
          <a:prstGeom prst="roundRect">
            <a:avLst>
              <a:gd fmla="val 50000" name="adj"/>
            </a:avLst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771525" y="3872805"/>
            <a:ext cx="723155" cy="95250"/>
          </a:xfrm>
          <a:prstGeom prst="roundRect">
            <a:avLst>
              <a:gd fmla="val 50000" name="adj"/>
            </a:avLst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7" name="Google Shape;17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4150" y="24574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4150" y="3171825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0" y="3467100"/>
            <a:ext cx="112395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3838575"/>
            <a:ext cx="3371850" cy="18456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0075" y="3838575"/>
            <a:ext cx="3371850" cy="18456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43900" y="3838575"/>
            <a:ext cx="3371850" cy="1845617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476250" y="476250"/>
            <a:ext cx="11715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5. Project Timeline &amp; Scope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476250" y="1171575"/>
            <a:ext cx="112395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2286000" y="1571625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are currently iterating on the dataset generation process to improve model generalization before the final defense.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2000250" y="3324225"/>
            <a:ext cx="323850" cy="32385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5934075" y="3324225"/>
            <a:ext cx="323850" cy="32385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9867900" y="3324225"/>
            <a:ext cx="323850" cy="32385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601979" y="4038600"/>
            <a:ext cx="312039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Current Focus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76275" y="4391025"/>
            <a:ext cx="29718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Improve Synthetic Data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676275" y="4730055"/>
            <a:ext cx="29718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676275" y="4844355"/>
            <a:ext cx="29718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Optimizing the generation pipeline for better realism. Focusing on lighting consistency and texture blending to reduce false positives.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4535805" y="4038600"/>
            <a:ext cx="312039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Next Step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4610100" y="4391025"/>
            <a:ext cx="29718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Retrain &amp; Validate</a:t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4610100" y="4730055"/>
            <a:ext cx="29718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4610100" y="4844355"/>
            <a:ext cx="29718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Fine-tune the YOLO model on the improved hybrid dataset. Validate performance metrics on real-world holdout set.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8469630" y="4038600"/>
            <a:ext cx="312039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Final Step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8543925" y="4391025"/>
            <a:ext cx="29718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Final Presentation</a:t>
            </a:r>
            <a:endParaRPr/>
          </a:p>
        </p:txBody>
      </p:sp>
      <p:sp>
        <p:nvSpPr>
          <p:cNvPr id="203" name="Google Shape;203;p18"/>
          <p:cNvSpPr/>
          <p:nvPr/>
        </p:nvSpPr>
        <p:spPr>
          <a:xfrm>
            <a:off x="8543925" y="4730055"/>
            <a:ext cx="29718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8543925" y="4844355"/>
            <a:ext cx="29718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Compile results, error analysis, and demo video into the final defense deck. Showcase the finalized edge-ready model.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