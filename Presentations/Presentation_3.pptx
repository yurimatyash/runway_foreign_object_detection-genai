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Montserrat SemiBold"/>
      <p:regular r:id="rId15"/>
      <p:bold r:id="rId16"/>
      <p:italic r:id="rId17"/>
      <p:boldItalic r:id="rId18"/>
    </p:embeddedFont>
    <p:embeddedFont>
      <p:font typeface="Roboto"/>
      <p:regular r:id="rId19"/>
      <p:bold r:id="rId20"/>
      <p:italic r:id="rId21"/>
      <p:boldItalic r:id="rId22"/>
    </p:embeddedFont>
    <p:embeddedFont>
      <p:font typeface="Roboto Medium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Montserrat"/>
      <p:regular r:id="rId31"/>
      <p:bold r:id="rId32"/>
      <p:italic r:id="rId33"/>
      <p:boldItalic r:id="rId34"/>
    </p:embeddedFont>
    <p:embeddedFont>
      <p:font typeface="Urbanist"/>
      <p:regular r:id="rId35"/>
      <p:bold r:id="rId36"/>
      <p:italic r:id="rId37"/>
      <p:boldItalic r:id="rId38"/>
    </p:embeddedFont>
    <p:embeddedFont>
      <p:font typeface="JetBrains Mono"/>
      <p:regular r:id="rId39"/>
      <p:bold r:id="rId40"/>
      <p:italic r:id="rId41"/>
      <p:boldItalic r:id="rId42"/>
    </p:embeddedFont>
    <p:embeddedFont>
      <p:font typeface="Inter Black"/>
      <p:bold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A24394-850E-47C6-9CD8-E673AEF85ECA}">
  <a:tblStyle styleId="{DBA24394-850E-47C6-9CD8-E673AEF85EC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JetBrainsMono-bold.fntdata"/><Relationship Id="rId20" Type="http://schemas.openxmlformats.org/officeDocument/2006/relationships/font" Target="fonts/Roboto-bold.fntdata"/><Relationship Id="rId42" Type="http://schemas.openxmlformats.org/officeDocument/2006/relationships/font" Target="fonts/JetBrainsMono-boldItalic.fntdata"/><Relationship Id="rId41" Type="http://schemas.openxmlformats.org/officeDocument/2006/relationships/font" Target="fonts/JetBrainsMono-italic.fntdata"/><Relationship Id="rId22" Type="http://schemas.openxmlformats.org/officeDocument/2006/relationships/font" Target="fonts/Roboto-boldItalic.fntdata"/><Relationship Id="rId44" Type="http://schemas.openxmlformats.org/officeDocument/2006/relationships/font" Target="fonts/InterBlack-boldItalic.fntdata"/><Relationship Id="rId21" Type="http://schemas.openxmlformats.org/officeDocument/2006/relationships/font" Target="fonts/Roboto-italic.fntdata"/><Relationship Id="rId43" Type="http://schemas.openxmlformats.org/officeDocument/2006/relationships/font" Target="fonts/InterBlack-bold.fntdata"/><Relationship Id="rId24" Type="http://schemas.openxmlformats.org/officeDocument/2006/relationships/font" Target="fonts/RobotoMedium-bold.fntdata"/><Relationship Id="rId23" Type="http://schemas.openxmlformats.org/officeDocument/2006/relationships/font" Target="fonts/Roboto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Medium-boldItalic.fntdata"/><Relationship Id="rId25" Type="http://schemas.openxmlformats.org/officeDocument/2006/relationships/font" Target="fonts/RobotoMedium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5.xml"/><Relationship Id="rId33" Type="http://schemas.openxmlformats.org/officeDocument/2006/relationships/font" Target="fonts/Montserrat-italic.fntdata"/><Relationship Id="rId10" Type="http://schemas.openxmlformats.org/officeDocument/2006/relationships/slide" Target="slides/slide4.xml"/><Relationship Id="rId32" Type="http://schemas.openxmlformats.org/officeDocument/2006/relationships/font" Target="fonts/Montserrat-bold.fntdata"/><Relationship Id="rId13" Type="http://schemas.openxmlformats.org/officeDocument/2006/relationships/slide" Target="slides/slide7.xml"/><Relationship Id="rId35" Type="http://schemas.openxmlformats.org/officeDocument/2006/relationships/font" Target="fonts/Urbanist-regular.fntdata"/><Relationship Id="rId12" Type="http://schemas.openxmlformats.org/officeDocument/2006/relationships/slide" Target="slides/slide6.xml"/><Relationship Id="rId34" Type="http://schemas.openxmlformats.org/officeDocument/2006/relationships/font" Target="fonts/Montserrat-boldItalic.fntdata"/><Relationship Id="rId15" Type="http://schemas.openxmlformats.org/officeDocument/2006/relationships/font" Target="fonts/MontserratSemiBold-regular.fntdata"/><Relationship Id="rId37" Type="http://schemas.openxmlformats.org/officeDocument/2006/relationships/font" Target="fonts/Urbanist-italic.fntdata"/><Relationship Id="rId14" Type="http://schemas.openxmlformats.org/officeDocument/2006/relationships/slide" Target="slides/slide8.xml"/><Relationship Id="rId36" Type="http://schemas.openxmlformats.org/officeDocument/2006/relationships/font" Target="fonts/Urbanist-bold.fntdata"/><Relationship Id="rId17" Type="http://schemas.openxmlformats.org/officeDocument/2006/relationships/font" Target="fonts/MontserratSemiBold-italic.fntdata"/><Relationship Id="rId39" Type="http://schemas.openxmlformats.org/officeDocument/2006/relationships/font" Target="fonts/JetBrainsMono-regular.fntdata"/><Relationship Id="rId16" Type="http://schemas.openxmlformats.org/officeDocument/2006/relationships/font" Target="fonts/MontserratSemiBold-bold.fntdata"/><Relationship Id="rId38" Type="http://schemas.openxmlformats.org/officeDocument/2006/relationships/font" Target="fonts/Urbanist-boldItalic.fntdata"/><Relationship Id="rId19" Type="http://schemas.openxmlformats.org/officeDocument/2006/relationships/font" Target="fonts/Roboto-regular.fntdata"/><Relationship Id="rId18" Type="http://schemas.openxmlformats.org/officeDocument/2006/relationships/font" Target="fonts/Montserrat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9510dd259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b9510dd259_1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9510dd259_1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b9510dd259_1_3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9510dd259_1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b9510dd259_1_4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9510dd259_1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b9510dd259_1_2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9510dd259_1_5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b9510dd259_1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png"/><Relationship Id="rId10" Type="http://schemas.openxmlformats.org/officeDocument/2006/relationships/image" Target="../media/image7.png"/><Relationship Id="rId13" Type="http://schemas.openxmlformats.org/officeDocument/2006/relationships/image" Target="../media/image23.png"/><Relationship Id="rId1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13.png"/><Relationship Id="rId9" Type="http://schemas.openxmlformats.org/officeDocument/2006/relationships/image" Target="../media/image9.png"/><Relationship Id="rId15" Type="http://schemas.openxmlformats.org/officeDocument/2006/relationships/image" Target="../media/image27.png"/><Relationship Id="rId14" Type="http://schemas.openxmlformats.org/officeDocument/2006/relationships/image" Target="../media/image21.png"/><Relationship Id="rId16" Type="http://schemas.openxmlformats.org/officeDocument/2006/relationships/image" Target="../media/image18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16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6381750" y="1545120"/>
            <a:ext cx="550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Motivation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381675" y="1814201"/>
            <a:ext cx="5238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Runway safety is critical. Manual inspection is slow and prone to human error. Our goal is to automate the detection of foreign object debris</a:t>
            </a:r>
            <a: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mainly Ice, potholes and oil spills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381813" y="2911222"/>
            <a:ext cx="550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Core Methodology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381675" y="3179501"/>
            <a:ext cx="5238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 leverage generative AI to create synthetic training</a:t>
            </a:r>
            <a:b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data and fine-tune advanced object detection models.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381750" y="3732325"/>
            <a:ext cx="4857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Input: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Drone-captured imagery.</a:t>
            </a:r>
            <a:endParaRPr b="0" i="0" sz="1650" u="none" cap="none" strike="noStrike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Targets:</a:t>
            </a:r>
            <a: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Ice, Oil Spills, Potholes.</a:t>
            </a:r>
            <a:endParaRPr sz="165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Model:</a:t>
            </a:r>
            <a: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Fine-tuned YOLO Architecture.</a:t>
            </a:r>
            <a:endParaRPr sz="165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57150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Project Definition &amp; Scope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571500" y="126489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6381750" y="4639930"/>
            <a:ext cx="550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Metrics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81675" y="5001526"/>
            <a:ext cx="52389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 use different metrics to evaluate our model</a:t>
            </a:r>
            <a:endParaRPr sz="165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mAP (Mean Average Precision)</a:t>
            </a:r>
            <a:endParaRPr sz="165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Box Loss (Localization Error)</a:t>
            </a:r>
            <a:b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Confusion Matrix</a:t>
            </a:r>
            <a:endParaRPr sz="165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F1 Confidence Curve</a:t>
            </a:r>
            <a:endParaRPr sz="165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Visual Validation</a:t>
            </a:r>
            <a:endParaRPr sz="165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94" name="Google Shape;9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545127"/>
            <a:ext cx="5590135" cy="49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65634"/>
            <a:ext cx="5238750" cy="5420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265634"/>
            <a:ext cx="5238750" cy="5420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962025" y="1656159"/>
            <a:ext cx="468058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The Novelty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62025" y="2391370"/>
            <a:ext cx="44577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Traditionally, runway inspection relies on manual visual checks from watchtowers or ground vehicles, which are labor-intensive and sporadic.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62025" y="3796903"/>
            <a:ext cx="4457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Our Solution: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 fully automated, drone-based vision system that provides continuous, high-resolution monitoring without disrupting operations.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772275" y="1656159"/>
            <a:ext cx="468058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Key Achievements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772275" y="2391370"/>
            <a:ext cx="4457700" cy="11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 have successfully developed a proof-of-concept model capable of distinguishing between three distinct classes of runway hazards.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115175" y="4133016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153275" y="4132064"/>
            <a:ext cx="40767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Detection: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Accurate localization of Oil, Ice, and Holes.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115175" y="4803338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153275" y="4802385"/>
            <a:ext cx="40767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Performance: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Achieved a robust running model suitable for deployment.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115175" y="5473660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153275" y="5472707"/>
            <a:ext cx="40767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Pipeline: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Established a complete end-to-end data and inference pipeline.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571500" y="172194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Novelty &amp; Achievements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571500" y="865584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1217295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725" y="1724025"/>
            <a:ext cx="2586037" cy="413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7562" y="1724025"/>
            <a:ext cx="2586037" cy="413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8400" y="1724025"/>
            <a:ext cx="2586037" cy="413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9237" y="1724025"/>
            <a:ext cx="2586037" cy="41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466725" y="285750"/>
            <a:ext cx="3439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METHODOLOGY &amp; EXECUTION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466725" y="533400"/>
            <a:ext cx="3439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Inter Black"/>
                <a:ea typeface="Inter Black"/>
                <a:cs typeface="Inter Black"/>
                <a:sym typeface="Inter Black"/>
              </a:rPr>
              <a:t>End-to-End Pipeline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14662" y="2209800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666750" y="2457450"/>
            <a:ext cx="21861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Implementation of Stable Diffusion with extensive prompt engineering and dynamic masking to create realistic images of runways featuring oil spills or ice chunks.</a:t>
            </a:r>
            <a:endParaRPr/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0" y="2209800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3557587" y="2457450"/>
            <a:ext cx="21861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Utilization of dynamic generation masks as ground-truth bounding boxes, creating a perfectly labeled dataset ready for model fine-tuning.</a:t>
            </a:r>
            <a:endParaRPr/>
          </a:p>
        </p:txBody>
      </p:sp>
      <p:pic>
        <p:nvPicPr>
          <p:cNvPr descr="image.png" id="130" name="Google Shape;13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96337" y="2209800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6448425" y="2457450"/>
            <a:ext cx="21861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Training phase involving the fine-tuning of a YOLOv26 architecture on the custom synthetic dataset to specialize in FOD detection.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9339262" y="2457450"/>
            <a:ext cx="21861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Final validation phase confirming the model trained perfectly, with high precision metrics across all generated hazard classes.</a:t>
            </a:r>
            <a:endParaRPr/>
          </a:p>
        </p:txBody>
      </p:sp>
      <p:pic>
        <p:nvPicPr>
          <p:cNvPr descr="image.png" id="133" name="Google Shape;13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19240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1162050" y="1946969"/>
            <a:ext cx="1590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Step 01</a:t>
            </a:r>
            <a:endParaRPr/>
          </a:p>
        </p:txBody>
      </p:sp>
      <p:pic>
        <p:nvPicPr>
          <p:cNvPr descr="image.png" id="135" name="Google Shape;13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57587" y="19240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4052887" y="1946969"/>
            <a:ext cx="1057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Step 02</a:t>
            </a:r>
            <a:endParaRPr/>
          </a:p>
        </p:txBody>
      </p:sp>
      <p:pic>
        <p:nvPicPr>
          <p:cNvPr descr="image.png" id="137" name="Google Shape;13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48425" y="19240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 txBox="1"/>
          <p:nvPr/>
        </p:nvSpPr>
        <p:spPr>
          <a:xfrm>
            <a:off x="6943725" y="1946969"/>
            <a:ext cx="111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Step 03</a:t>
            </a:r>
            <a:endParaRPr/>
          </a:p>
        </p:txBody>
      </p:sp>
      <p:pic>
        <p:nvPicPr>
          <p:cNvPr descr="image.png" id="139" name="Google Shape;13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39262" y="19240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/>
        </p:nvSpPr>
        <p:spPr>
          <a:xfrm>
            <a:off x="9834562" y="1946969"/>
            <a:ext cx="78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Step 04</a:t>
            </a:r>
            <a:endParaRPr/>
          </a:p>
        </p:txBody>
      </p:sp>
      <p:pic>
        <p:nvPicPr>
          <p:cNvPr descr="image.png" id="141" name="Google Shape;14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1050" y="2028825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/>
        </p:nvSpPr>
        <p:spPr>
          <a:xfrm>
            <a:off x="1162050" y="2099369"/>
            <a:ext cx="167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Synthetic Generation</a:t>
            </a:r>
            <a:endParaRPr/>
          </a:p>
        </p:txBody>
      </p:sp>
      <p:pic>
        <p:nvPicPr>
          <p:cNvPr descr="image.png" id="143" name="Google Shape;143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71887" y="2028825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/>
        </p:nvSpPr>
        <p:spPr>
          <a:xfrm>
            <a:off x="4052887" y="2099369"/>
            <a:ext cx="111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Labeling</a:t>
            </a:r>
            <a:endParaRPr/>
          </a:p>
        </p:txBody>
      </p:sp>
      <p:pic>
        <p:nvPicPr>
          <p:cNvPr descr="image.png" id="145" name="Google Shape;145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53200" y="202882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/>
        </p:nvSpPr>
        <p:spPr>
          <a:xfrm>
            <a:off x="6943725" y="2099369"/>
            <a:ext cx="117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Model Training</a:t>
            </a:r>
            <a:endParaRPr/>
          </a:p>
        </p:txBody>
      </p:sp>
      <p:pic>
        <p:nvPicPr>
          <p:cNvPr descr="image.png" id="147" name="Google Shape;147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444037" y="202882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5"/>
          <p:cNvSpPr txBox="1"/>
          <p:nvPr/>
        </p:nvSpPr>
        <p:spPr>
          <a:xfrm>
            <a:off x="9834562" y="2099369"/>
            <a:ext cx="820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Evaluation</a:t>
            </a:r>
            <a:endParaRPr/>
          </a:p>
        </p:txBody>
      </p:sp>
      <p:pic>
        <p:nvPicPr>
          <p:cNvPr id="149" name="Google Shape;149;p15" title="Figure_1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66725" y="4020501"/>
            <a:ext cx="2586025" cy="210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248400" y="4020500"/>
            <a:ext cx="2586025" cy="210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9139225" y="4020500"/>
            <a:ext cx="2586025" cy="210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5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357550" y="4026600"/>
            <a:ext cx="2586050" cy="210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5"/>
          <p:cNvSpPr/>
          <p:nvPr/>
        </p:nvSpPr>
        <p:spPr>
          <a:xfrm>
            <a:off x="4572000" y="4875900"/>
            <a:ext cx="1006800" cy="669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4078075" y="4642775"/>
            <a:ext cx="266700" cy="233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"/>
          <p:cNvSpPr txBox="1"/>
          <p:nvPr/>
        </p:nvSpPr>
        <p:spPr>
          <a:xfrm>
            <a:off x="242675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Results</a:t>
            </a:r>
            <a:r>
              <a:rPr lang="en-US" sz="315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- part 1</a:t>
            </a:r>
            <a:endParaRPr sz="3150">
              <a:solidFill>
                <a:srgbClr val="2C528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descr="image.png" id="160" name="Google Shape;16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19250"/>
            <a:ext cx="5653200" cy="482243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 txBox="1"/>
          <p:nvPr/>
        </p:nvSpPr>
        <p:spPr>
          <a:xfrm>
            <a:off x="723900" y="1771650"/>
            <a:ext cx="550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C5282"/>
                </a:solidFill>
                <a:latin typeface="Montserrat"/>
                <a:ea typeface="Montserrat"/>
                <a:cs typeface="Montserrat"/>
                <a:sym typeface="Montserrat"/>
              </a:rPr>
              <a:t>Key Observations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914400" y="2333625"/>
            <a:ext cx="50484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18096"/>
                </a:solidFill>
                <a:latin typeface="Roboto"/>
                <a:ea typeface="Roboto"/>
                <a:cs typeface="Roboto"/>
                <a:sym typeface="Roboto"/>
              </a:rPr>
              <a:t>Rapid Convergence:</a:t>
            </a:r>
            <a:br>
              <a:rPr b="0" i="0" lang="en-US" sz="18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718096"/>
                </a:solidFill>
                <a:latin typeface="Roboto"/>
                <a:ea typeface="Roboto"/>
                <a:cs typeface="Roboto"/>
                <a:sym typeface="Roboto"/>
              </a:rPr>
              <a:t> The mAP@50 climbs steeply in the first 20 epochs, stabilizing at approximately 0.85-0.90, indicating efficient feature learning.</a:t>
            </a:r>
            <a:endParaRPr>
              <a:solidFill>
                <a:srgbClr val="718096"/>
              </a:solidFill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723900" y="2333625"/>
            <a:ext cx="28500" cy="12192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914400" y="3790950"/>
            <a:ext cx="50484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18096"/>
                </a:solidFill>
                <a:latin typeface="Roboto"/>
                <a:ea typeface="Roboto"/>
                <a:cs typeface="Roboto"/>
                <a:sym typeface="Roboto"/>
              </a:rPr>
              <a:t>Stability:</a:t>
            </a:r>
            <a:br>
              <a:rPr b="0" i="0" lang="en-US" sz="18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718096"/>
                </a:solidFill>
                <a:latin typeface="Roboto"/>
                <a:ea typeface="Roboto"/>
                <a:cs typeface="Roboto"/>
                <a:sym typeface="Roboto"/>
              </a:rPr>
              <a:t> Training and Validation loss curves show a consistent downward trend, converging around Epoch 60 with no signs of overfitting.</a:t>
            </a:r>
            <a:endParaRPr>
              <a:solidFill>
                <a:srgbClr val="718096"/>
              </a:solidFill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723900" y="3790950"/>
            <a:ext cx="28500" cy="12192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914400" y="5248275"/>
            <a:ext cx="5048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18096"/>
                </a:solidFill>
                <a:latin typeface="Roboto"/>
                <a:ea typeface="Roboto"/>
                <a:cs typeface="Roboto"/>
                <a:sym typeface="Roboto"/>
              </a:rPr>
              <a:t>High Confidence:</a:t>
            </a:r>
            <a:br>
              <a:rPr b="0" i="0" lang="en-US" sz="18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718096"/>
                </a:solidFill>
                <a:latin typeface="Roboto"/>
                <a:ea typeface="Roboto"/>
                <a:cs typeface="Roboto"/>
                <a:sym typeface="Roboto"/>
              </a:rPr>
              <a:t> The mAP@50-95 metric confirms that bounding boxes are tightly aligned with ground truth.</a:t>
            </a:r>
            <a:endParaRPr>
              <a:solidFill>
                <a:srgbClr val="718096"/>
              </a:solidFill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723900" y="5248275"/>
            <a:ext cx="28500" cy="9144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0275" y="71325"/>
            <a:ext cx="5204000" cy="328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0275" y="3429000"/>
            <a:ext cx="5204001" cy="319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/>
        </p:nvSpPr>
        <p:spPr>
          <a:xfrm>
            <a:off x="800100" y="750650"/>
            <a:ext cx="11273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Results - part 2</a:t>
            </a:r>
            <a:endParaRPr>
              <a:solidFill>
                <a:srgbClr val="F8FAFC"/>
              </a:solidFill>
            </a:endParaRPr>
          </a:p>
        </p:txBody>
      </p:sp>
      <p:pic>
        <p:nvPicPr>
          <p:cNvPr descr="image.png" id="175" name="Google Shape;17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1403800"/>
            <a:ext cx="4975675" cy="482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/>
          <p:cNvSpPr txBox="1"/>
          <p:nvPr/>
        </p:nvSpPr>
        <p:spPr>
          <a:xfrm>
            <a:off x="952500" y="2087775"/>
            <a:ext cx="45720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The confusion matrix provides a visual validation of our model's classification performance:</a:t>
            </a:r>
            <a:endParaRPr>
              <a:solidFill>
                <a:srgbClr val="F8FAFC"/>
              </a:solidFill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1076325" y="3040275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1143000" y="3040275"/>
            <a:ext cx="438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Strong Diagonal:</a:t>
            </a:r>
            <a:r>
              <a:rPr b="0" i="0" lang="en-US" sz="1500" u="none" cap="none" strike="noStrike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 The prominent diagonal line confirms effective class separation across all three categories.</a:t>
            </a:r>
            <a:endParaRPr>
              <a:solidFill>
                <a:srgbClr val="F8FAFC"/>
              </a:solidFill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1076325" y="4097550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1143000" y="4097550"/>
            <a:ext cx="438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Key Challenge:</a:t>
            </a:r>
            <a:r>
              <a:rPr b="0" i="0" lang="en-US" sz="1500" u="none" cap="none" strike="noStrike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 Minor confusion is observed between Potholes and Oil Spills, likely due to similar dark textures on asphalt.</a:t>
            </a:r>
            <a:endParaRPr>
              <a:solidFill>
                <a:srgbClr val="F8FAFC"/>
              </a:solidFill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1076325" y="5154825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1143000" y="5154825"/>
            <a:ext cx="438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Next Steps:</a:t>
            </a:r>
            <a:r>
              <a:rPr b="0" i="0" lang="en-US" sz="1500" u="none" cap="none" strike="noStrike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 Targeted data augmentation for low-contrast pavement features will resolve this overlap.</a:t>
            </a:r>
            <a:endParaRPr>
              <a:solidFill>
                <a:srgbClr val="F8FAFC"/>
              </a:solidFill>
            </a:endParaRPr>
          </a:p>
        </p:txBody>
      </p:sp>
      <p:pic>
        <p:nvPicPr>
          <p:cNvPr id="183" name="Google Shape;183;p17" title="EVAL2.png"/>
          <p:cNvPicPr preferRelativeResize="0"/>
          <p:nvPr/>
        </p:nvPicPr>
        <p:blipFill rotWithShape="1">
          <a:blip r:embed="rId4">
            <a:alphaModFix/>
          </a:blip>
          <a:srcRect b="23950" l="18339" r="19090" t="20506"/>
          <a:stretch/>
        </p:blipFill>
        <p:spPr>
          <a:xfrm>
            <a:off x="6008689" y="1403800"/>
            <a:ext cx="5432188" cy="482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61319"/>
            <a:ext cx="11049000" cy="343465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3914775" y="6038850"/>
            <a:ext cx="4362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718096"/>
                </a:solidFill>
                <a:latin typeface="Roboto"/>
                <a:ea typeface="Roboto"/>
                <a:cs typeface="Roboto"/>
                <a:sym typeface="Roboto"/>
              </a:rPr>
              <a:t>*Metrics calculated based on the validation set confusion matrix.</a:t>
            </a:r>
            <a:endParaRPr/>
          </a:p>
        </p:txBody>
      </p:sp>
      <p:graphicFrame>
        <p:nvGraphicFramePr>
          <p:cNvPr id="190" name="Google Shape;190;p18"/>
          <p:cNvGraphicFramePr/>
          <p:nvPr/>
        </p:nvGraphicFramePr>
        <p:xfrm>
          <a:off x="581025" y="24708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{DBA24394-850E-47C6-9CD8-E673AEF85ECA}</a:tableStyleId>
              </a:tblPr>
              <a:tblGrid>
                <a:gridCol w="2236450"/>
                <a:gridCol w="1816600"/>
                <a:gridCol w="1492600"/>
                <a:gridCol w="1624900"/>
                <a:gridCol w="1807375"/>
                <a:gridCol w="2052050"/>
              </a:tblGrid>
              <a:tr h="68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Class Target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Precision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Recall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F1 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Accuracy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Support (N)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282"/>
                    </a:solidFill>
                  </a:tcPr>
                </a:tc>
              </a:tr>
              <a:tr h="68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5568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Ice Patches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4A556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0.9</a:t>
                      </a:r>
                      <a:r>
                        <a:rPr lang="en-US" sz="1500">
                          <a:solidFill>
                            <a:srgbClr val="4A556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solidFill>
                          <a:srgbClr val="4A5568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556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0.91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556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0.92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556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98.5%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556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5568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Oil Spills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556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0.85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556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0.85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556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0.85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556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96.2%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556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175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68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5568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Potholes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556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0.78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556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0.91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556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0.84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556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92.1%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A556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A556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Macro Average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A556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0.85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A556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0.89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A556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0.87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A556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95.6%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A556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496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191" name="Google Shape;191;p18"/>
          <p:cNvSpPr/>
          <p:nvPr/>
        </p:nvSpPr>
        <p:spPr>
          <a:xfrm>
            <a:off x="581025" y="3090862"/>
            <a:ext cx="2236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2817465" y="3090862"/>
            <a:ext cx="1816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4634061" y="3090862"/>
            <a:ext cx="149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6126658" y="3090862"/>
            <a:ext cx="1624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7751564" y="3090862"/>
            <a:ext cx="1807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9558932" y="3090862"/>
            <a:ext cx="2052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581025" y="3786187"/>
            <a:ext cx="2236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2817465" y="3786187"/>
            <a:ext cx="1816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4634061" y="3786187"/>
            <a:ext cx="149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6126658" y="3786187"/>
            <a:ext cx="1624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7751564" y="3786187"/>
            <a:ext cx="1807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9558932" y="3786187"/>
            <a:ext cx="2052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581025" y="4481512"/>
            <a:ext cx="2236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2817465" y="4481512"/>
            <a:ext cx="1816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4634061" y="4481512"/>
            <a:ext cx="149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6126658" y="4481512"/>
            <a:ext cx="1624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7751564" y="4481512"/>
            <a:ext cx="1807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9558932" y="4481512"/>
            <a:ext cx="2052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81025" y="5176837"/>
            <a:ext cx="2236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2817465" y="5176837"/>
            <a:ext cx="1816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4634061" y="5176837"/>
            <a:ext cx="149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6126658" y="5176837"/>
            <a:ext cx="1624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7751564" y="5176837"/>
            <a:ext cx="1807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9558932" y="5176837"/>
            <a:ext cx="2052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581025" y="5872162"/>
            <a:ext cx="2236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2817465" y="5872162"/>
            <a:ext cx="1816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4634061" y="5872162"/>
            <a:ext cx="1492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6126658" y="5872162"/>
            <a:ext cx="1624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7751564" y="5872162"/>
            <a:ext cx="1807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9558932" y="5872162"/>
            <a:ext cx="2052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 txBox="1"/>
          <p:nvPr/>
        </p:nvSpPr>
        <p:spPr>
          <a:xfrm>
            <a:off x="571500" y="436219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Results</a:t>
            </a:r>
            <a:r>
              <a:rPr b="0" i="0" lang="en-US" sz="315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- </a:t>
            </a:r>
            <a:r>
              <a:rPr lang="en-US" sz="315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part 3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image.png" id="222" name="Google Shape;22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65625"/>
            <a:ext cx="11049000" cy="85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8"/>
          <p:cNvSpPr txBox="1"/>
          <p:nvPr/>
        </p:nvSpPr>
        <p:spPr>
          <a:xfrm>
            <a:off x="571500" y="1385421"/>
            <a:ext cx="11049000" cy="10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Our model demonstrates robust detection capabilities, with </a:t>
            </a:r>
            <a:r>
              <a:rPr b="1" lang="en-US" sz="17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Ice Patches</a:t>
            </a:r>
            <a:r>
              <a:rPr lang="en-US" sz="17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achieving the highest precision due to distinct textural features.</a:t>
            </a:r>
            <a:endParaRPr sz="1750">
              <a:solidFill>
                <a:srgbClr val="CBD5E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9100" y="152400"/>
            <a:ext cx="6553200" cy="6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9"/>
          <p:cNvSpPr txBox="1"/>
          <p:nvPr/>
        </p:nvSpPr>
        <p:spPr>
          <a:xfrm>
            <a:off x="571500" y="436225"/>
            <a:ext cx="37716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Results</a:t>
            </a:r>
            <a:endParaRPr sz="315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5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Final Showcase</a:t>
            </a:r>
            <a:endParaRPr sz="315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 txBox="1"/>
          <p:nvPr/>
        </p:nvSpPr>
        <p:spPr>
          <a:xfrm>
            <a:off x="195050" y="161025"/>
            <a:ext cx="48006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Conclusion &amp; Future Work</a:t>
            </a:r>
            <a:endParaRPr/>
          </a:p>
        </p:txBody>
      </p:sp>
      <p:pic>
        <p:nvPicPr>
          <p:cNvPr descr="image.png" id="236" name="Google Shape;23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0"/>
          <p:cNvSpPr txBox="1"/>
          <p:nvPr/>
        </p:nvSpPr>
        <p:spPr>
          <a:xfrm>
            <a:off x="195050" y="1398105"/>
            <a:ext cx="480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Project Status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195050" y="1630637"/>
            <a:ext cx="4572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 have successfully achieved our desired results, validating the feasibility of drone-based automated runway inspection.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195050" y="2775019"/>
            <a:ext cx="480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Lessons Learned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195050" y="3009901"/>
            <a:ext cx="4572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While effective, the three-class limitation is not yet fully realistic for commercial deployment. A wider variety of FOD is needed.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195050" y="3966709"/>
            <a:ext cx="480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Future Roadmap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914400" y="6082218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190500" y="4202766"/>
            <a:ext cx="43815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Expand dataset to include dirt and grass runways</a:t>
            </a:r>
            <a: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found in rural areas, for bush craft </a:t>
            </a:r>
            <a: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planes</a:t>
            </a:r>
            <a: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914400" y="6752540"/>
            <a:ext cx="38100" cy="105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190500" y="5194637"/>
            <a:ext cx="43815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Increase class diversity (e.g., rubber deposits, metal parts).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914400" y="7422862"/>
            <a:ext cx="381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952500" y="7421909"/>
            <a:ext cx="43815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Real-time edge deployment on drone hardware.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